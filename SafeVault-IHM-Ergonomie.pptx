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C6F51A-ADB7-490F-9844-BCB72FCC75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490DC6-D7BA-466E-8569-799D531951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13B6BF-CC29-4E74-9BAD-56CFC4E26E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DC3F1E-1CD2-4504-8220-E758CDFEF1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E61A14-0793-4616-A367-8969830105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9E094A-2425-4E76-85D5-DA8AF21E26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D73D11-EC00-4259-A60A-162825FDA8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4B7810-3CDE-4505-B1EB-83A2C056C8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363273-98D4-444B-B217-073BFAEE2D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871752-B48A-440E-9CBF-6D545CE8B8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A9A7B4-CADF-433F-8820-0970BBCEB7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0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914400" y="68580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SafeVault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822960" y="2103120"/>
            <a:ext cx="6949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Projet SafeVault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822960" y="3063240"/>
            <a:ext cx="658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A3A3AE"/>
                </a:solidFill>
                <a:effectLst/>
                <a:uFillTx/>
                <a:latin typeface="Arial"/>
              </a:rPr>
              <a:t>IHM et ergonomie des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822960" y="5212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AKOHOU Héloïse · AFFOKPON Kris · AMOUSSOU Siméon · DOSSA Gaby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822960" y="5577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3A3AE"/>
                </a:solidFill>
                <a:effectLst/>
                <a:uFillTx/>
                <a:latin typeface="Arial"/>
              </a:rPr>
              <a:t>IFRI, UAC · Génie Logiciel 3, Groupe N° 3 · 2026-2027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9"/>
          <p:cNvSpPr/>
          <p:nvPr/>
        </p:nvSpPr>
        <p:spPr>
          <a:xfrm rot="1080000">
            <a:off x="8503560" y="914040"/>
            <a:ext cx="2651400" cy="2651400"/>
          </a:xfrm>
          <a:prstGeom prst="rect">
            <a:avLst/>
          </a:prstGeom>
          <a:solidFill>
            <a:srgbClr val="4040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10"/>
          <p:cNvSpPr/>
          <p:nvPr/>
        </p:nvSpPr>
        <p:spPr>
          <a:xfrm>
            <a:off x="8275320" y="2514600"/>
            <a:ext cx="2148480" cy="2148480"/>
          </a:xfrm>
          <a:prstGeom prst="rect">
            <a:avLst/>
          </a:prstGeom>
          <a:solidFill>
            <a:srgbClr val="595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0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822960" y="82296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Sommaire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822960" y="21031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1737360" y="21031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Justification des règles de l'IHM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822960" y="28803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1737360" y="28803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Note sur le support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822960" y="36576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1737360" y="36576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 audit utilisateur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822960" y="44348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737360" y="443484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Note technique : les icônes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1"/>
          <p:cNvSpPr/>
          <p:nvPr/>
        </p:nvSpPr>
        <p:spPr>
          <a:xfrm>
            <a:off x="8595360" y="1188720"/>
            <a:ext cx="1737000" cy="1737000"/>
          </a:xfrm>
          <a:prstGeom prst="rect">
            <a:avLst/>
          </a:prstGeom>
          <a:solidFill>
            <a:srgbClr val="2A2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2"/>
          <p:cNvSpPr/>
          <p:nvPr/>
        </p:nvSpPr>
        <p:spPr>
          <a:xfrm>
            <a:off x="10469880" y="187452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9555480" y="2971800"/>
            <a:ext cx="685440" cy="685440"/>
          </a:xfrm>
          <a:prstGeom prst="rect">
            <a:avLst/>
          </a:prstGeom>
          <a:solidFill>
            <a:srgbClr val="595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4"/>
          <p:cNvSpPr/>
          <p:nvPr/>
        </p:nvSpPr>
        <p:spPr>
          <a:xfrm>
            <a:off x="10424160" y="2971800"/>
            <a:ext cx="868320" cy="868320"/>
          </a:xfrm>
          <a:prstGeom prst="rect">
            <a:avLst/>
          </a:prstGeom>
          <a:solidFill>
            <a:srgbClr val="4040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RÈGLES DE L'IHM · 1. LE GUIDAGE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Une phrase sous chaque titre dit à l'utilisateur quoi faire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« Ajoutez vos fichiers dans la zone ci-dessous. Chacun est chiffré dès son arrivée. »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Pourquoi : l'utilisateur ne devine pas, il sait quoi faire au premier regard.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RÈGLES DE L'IHM · 2. LA CHARGE DE TRAVAIL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 seul bouton plein par écran, pour réduire ce qu'il faut lire et décider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« Suivant », puis « Partager le document » : une seule action principale par écran. Le reste reste discret.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Le parcours est découpé en étapes.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Pourquoi : moins à lire et à décider, plus vite le document part.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RÈGLES DE L'IHM · 3. LE CONTRÔLE EXPLICITE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Chaque écran offre une sortie, pour qu'une erreur se défasse en un clic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 bouton « Annuler » sur chaque écran, un « Retour » sur Partager.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Une croix pour retirer un fichier ou un destinataire.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Pourquoi : l'utilisateur n'a pas peur de se tromper.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RÈGLES DE L'IHM · 4. LA GESTION DES ERREURS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Les refus de fichier sont écrits en français simple, jamais en code technique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« Ce format n'est pas accepté. Formats possibles : PDF, Word, JPG, PNG. » (formats.ts)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Pourquoi : l'utilisateur comprend le problème et la solution, tout de suite.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RÈGLES DE L'IHM · 5. LE RETOUR D'INFORMATION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Une barre de progression et une notification confirment chaque action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 statut pendant le dépôt du fichier.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Une notification à chaque envoi à un collaborateur.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Pourquoi : l'utilisateur voit que son action a marché, il avance en confiance.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SUPPORT MOBILE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SafeVault est pensé pour le web ; deux usages changeraient sur mobile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Déposer un fichier : un bouton ouvrirait le sélecteur natif du téléphone, avec l'option de prendre une photo directement (utile pour un contrat ou une facture papier).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Partager avec un collègue : la feuille de partage native (iOS/Android) choisirait le collègue dans les contacts, ou enverrait le lien par SMS ou WhatsApp, sans retaper une adresse.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AUDIT UTILISATEUR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822960" y="96012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5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Trois testeurs externes, deux remarques de gravité 1, aucun blocage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Table 4"/>
          <p:cNvGraphicFramePr/>
          <p:nvPr/>
        </p:nvGraphicFramePr>
        <p:xfrm>
          <a:off x="822960" y="2011680"/>
          <a:ext cx="10515240" cy="393156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  <a:gridCol w="822960"/>
                <a:gridCol w="3200400"/>
              </a:tblGrid>
              <a:tr h="982800"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2F4FB"/>
                          </a:solidFill>
                          <a:effectLst/>
                          <a:uFillTx/>
                          <a:latin typeface="Arial"/>
                        </a:rPr>
                        <a:t>Personne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1014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2F4FB"/>
                          </a:solidFill>
                          <a:effectLst/>
                          <a:uFillTx/>
                          <a:latin typeface="Arial"/>
                        </a:rPr>
                        <a:t>Problème relevé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1014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2F4FB"/>
                          </a:solidFill>
                          <a:effectLst/>
                          <a:uFillTx/>
                          <a:latin typeface="Arial"/>
                        </a:rPr>
                        <a:t>Grav.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1014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2F4FB"/>
                          </a:solidFill>
                          <a:effectLst/>
                          <a:uFillTx/>
                          <a:latin typeface="Arial"/>
                        </a:rPr>
                        <a:t>Réponse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01014"/>
                    </a:solidFill>
                  </a:tcPr>
                </a:tc>
              </a:tr>
              <a:tr h="982800"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ADJOVI Enock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Aucun problème — interface propre et intuitive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C7EE3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—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2800"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KOUNOUEWA Alec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E6F2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L'effet de verre n'aurait pas forcément été apprécié par tout le monde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E6F2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3EFA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E6F2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Style assumé : moderne, simple, reposant pour l'œil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E6F2"/>
                    </a:solidFill>
                  </a:tcPr>
                </a:tc>
              </a:tr>
              <a:tr h="982800"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ADOH Dieudonné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Pourquoi saisir « Entrée » avant de pouvoir envoyer l'e-mail 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F3EFA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73080" rIns="109440" bIns="73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</a:rPr>
                        <a:t>Question de sûreté : il faut valider avant d'ajouter un nouveau destinataire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73080" marB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NOTE TECHNIQUE · DESSIN DES ICÔNES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Les icônes sont des contours SVG, pas des silhouettes pleines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Un composant Icon en React (src/pieces/Icone.tsx) : grille 24×24, trait 1,5 px, bouts et jonctions arrondis.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La plupart des formes (cadenas, horloge, flèches) utilisent lignes droites et arcs de cercle (commande A), exacts pour un angle ou un cercle parfait.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Trois icônes (personne, œil, bouclier) ont une courbe organique rendue par une vraie courbe de Bézier cubique (commande C et sa variante S).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2F4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822960" y="5943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●  NOTE TECHNIQUE · ANIMATION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822960" y="96012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700" b="1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Le retracé au survol ne coûte presque rien à l'interface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822960" y="2606040"/>
            <a:ext cx="7406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pathLength=1 normalise chaque trait : une seule animation stroke-dashoffset sert toutes les icônes, sans calcul JavaScript.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C'est une animation CSS pure, qui tourne sur le fil de composition du navigateur, pas sur le fil principal.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1400"/>
              </a:spcAft>
            </a:pPr>
            <a:r>
              <a:rPr lang="en-US" sz="155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■  </a:t>
            </a:r>
            <a:r>
              <a:rPr lang="en-US" sz="1550" b="0" u="none" strike="noStrike">
                <a:solidFill>
                  <a:srgbClr val="101014"/>
                </a:solidFill>
                <a:effectLst/>
                <a:uFillTx/>
                <a:latin typeface="Arial"/>
              </a:rPr>
              <a:t>Le reflet du verre n'écrit que 2 ou 3 variables CSS, une fois par image ; prefers-reduced-motion coupe tout.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9144000" y="4023360"/>
            <a:ext cx="1737000" cy="173700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11018520" y="470916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7"/>
          <p:cNvSpPr/>
          <p:nvPr/>
        </p:nvSpPr>
        <p:spPr>
          <a:xfrm>
            <a:off x="10104120" y="5806440"/>
            <a:ext cx="685440" cy="685440"/>
          </a:xfrm>
          <a:prstGeom prst="rect">
            <a:avLst/>
          </a:prstGeom>
          <a:solidFill>
            <a:srgbClr val="E3E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10972800" y="5806440"/>
            <a:ext cx="868320" cy="868320"/>
          </a:xfrm>
          <a:prstGeom prst="rect">
            <a:avLst/>
          </a:prstGeom>
          <a:solidFill>
            <a:srgbClr val="CED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01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822960" y="82296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Points clés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82296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1737360" y="2103120"/>
            <a:ext cx="6674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Cinq règles d'IHM rendues visibles et justifiées dans la maquette.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822960" y="29718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737360" y="2971800"/>
            <a:ext cx="6674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Deux adaptations concrètes identifiées pour un passage au mobile.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822960" y="3840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3EFA"/>
                </a:solidFill>
                <a:effectLst/>
                <a:uFillTx/>
                <a:latin typeface="Arial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1737360" y="3840480"/>
            <a:ext cx="6674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 audit à trois testeurs n'a révélé aucun problème bloquant.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822960" y="56692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Projet SafeVault · IFRI, UAC · Génie Logiciel 3, Groupe N°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822960" y="5989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3A3AE"/>
                </a:solidFill>
                <a:effectLst/>
                <a:uFillTx/>
                <a:latin typeface="Arial"/>
              </a:rPr>
              <a:t>AKOHOU Héloïse · AFFOKPON Kris · AMOUSSOU Siméon · DOSSA Gaby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8778240" y="1005840"/>
            <a:ext cx="1737000" cy="1737000"/>
          </a:xfrm>
          <a:prstGeom prst="rect">
            <a:avLst/>
          </a:prstGeom>
          <a:solidFill>
            <a:srgbClr val="2A2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12"/>
          <p:cNvSpPr/>
          <p:nvPr/>
        </p:nvSpPr>
        <p:spPr>
          <a:xfrm>
            <a:off x="10652760" y="1691640"/>
            <a:ext cx="776880" cy="776880"/>
          </a:xfrm>
          <a:prstGeom prst="rect">
            <a:avLst/>
          </a:prstGeom>
          <a:solidFill>
            <a:srgbClr val="0F3E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3"/>
          <p:cNvSpPr/>
          <p:nvPr/>
        </p:nvSpPr>
        <p:spPr>
          <a:xfrm>
            <a:off x="9738360" y="2788920"/>
            <a:ext cx="685440" cy="685440"/>
          </a:xfrm>
          <a:prstGeom prst="rect">
            <a:avLst/>
          </a:prstGeom>
          <a:solidFill>
            <a:srgbClr val="595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14"/>
          <p:cNvSpPr/>
          <p:nvPr/>
        </p:nvSpPr>
        <p:spPr>
          <a:xfrm>
            <a:off x="10607040" y="2788920"/>
            <a:ext cx="868320" cy="868320"/>
          </a:xfrm>
          <a:prstGeom prst="rect">
            <a:avLst/>
          </a:prstGeom>
          <a:solidFill>
            <a:srgbClr val="4040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Freeform 15"/>
          <p:cNvSpPr/>
          <p:nvPr/>
        </p:nvSpPr>
        <p:spPr>
          <a:xfrm>
            <a:off x="10424160" y="5989320"/>
            <a:ext cx="180720" cy="208080"/>
          </a:xfrm>
          <a:custGeom>
            <a:avLst/>
            <a:gdLst>
              <a:gd name="textAreaLeft" fmla="*/ 0 w 180720"/>
              <a:gd name="textAreaRight" fmla="*/ 181080 w 180720"/>
              <a:gd name="textAreaTop" fmla="*/ 0 h 208080"/>
              <a:gd name="textAreaBottom" fmla="*/ 208440 h 208080"/>
            </a:gdLst>
            <a:ahLst/>
            <a:cxnLst/>
            <a:rect l="textAreaLeft" t="textAreaTop" r="textAreaRight" b="textAreaBottom"/>
            <a:pathLst>
              <a:path w="181051" h="208483">
                <a:moveTo>
                  <a:pt x="0" y="0"/>
                </a:moveTo>
                <a:lnTo>
                  <a:pt x="181051" y="0"/>
                </a:lnTo>
                <a:lnTo>
                  <a:pt x="181051" y="65836"/>
                </a:lnTo>
                <a:lnTo>
                  <a:pt x="65836" y="65836"/>
                </a:lnTo>
                <a:lnTo>
                  <a:pt x="65836" y="208483"/>
                </a:lnTo>
                <a:lnTo>
                  <a:pt x="0" y="208483"/>
                </a:lnTo>
                <a:close/>
              </a:path>
            </a:pathLst>
          </a:custGeom>
          <a:solidFill>
            <a:srgbClr val="595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Freeform 16"/>
          <p:cNvSpPr/>
          <p:nvPr/>
        </p:nvSpPr>
        <p:spPr>
          <a:xfrm>
            <a:off x="10490040" y="6055200"/>
            <a:ext cx="180720" cy="208080"/>
          </a:xfrm>
          <a:custGeom>
            <a:avLst/>
            <a:gdLst>
              <a:gd name="textAreaLeft" fmla="*/ 0 w 180720"/>
              <a:gd name="textAreaRight" fmla="*/ 181080 w 180720"/>
              <a:gd name="textAreaTop" fmla="*/ 0 h 208080"/>
              <a:gd name="textAreaBottom" fmla="*/ 208440 h 208080"/>
            </a:gdLst>
            <a:ahLst/>
            <a:cxnLst/>
            <a:rect l="textAreaLeft" t="textAreaTop" r="textAreaRight" b="textAreaBottom"/>
            <a:pathLst>
              <a:path w="181052" h="208484">
                <a:moveTo>
                  <a:pt x="181052" y="208484"/>
                </a:moveTo>
                <a:lnTo>
                  <a:pt x="0" y="208484"/>
                </a:lnTo>
                <a:lnTo>
                  <a:pt x="0" y="142647"/>
                </a:lnTo>
                <a:lnTo>
                  <a:pt x="115215" y="142647"/>
                </a:lnTo>
                <a:lnTo>
                  <a:pt x="115215" y="0"/>
                </a:lnTo>
                <a:lnTo>
                  <a:pt x="181052" y="0"/>
                </a:lnTo>
                <a:close/>
              </a:path>
            </a:pathLst>
          </a:custGeom>
          <a:solidFill>
            <a:srgbClr val="595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2026-10-12T17:21:11Z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